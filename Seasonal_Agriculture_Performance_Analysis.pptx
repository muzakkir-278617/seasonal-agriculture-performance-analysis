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Mohammedqutbuddin/data-analytic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64372" y="3500929"/>
            <a:ext cx="4007627" cy="875777"/>
          </a:xfrm>
        </p:spPr>
        <p:txBody>
          <a:bodyPr vert="horz" lIns="91440" tIns="45720" rIns="91440" bIns="45720" rtlCol="0" anchor="t">
            <a:normAutofit/>
          </a:bodyPr>
          <a:lstStyle/>
          <a:p>
            <a:pPr algn="r"/>
            <a:r>
              <a:rPr lang="en-US" dirty="0">
                <a:solidFill>
                  <a:schemeClr val="tx1"/>
                </a:solidFill>
              </a:rPr>
              <a:t>Mohammad</a:t>
            </a:r>
            <a:r>
              <a:rPr lang="en-US" b="0" dirty="0">
                <a:solidFill>
                  <a:schemeClr val="tx1"/>
                </a:solidFill>
              </a:rPr>
              <a:t> </a:t>
            </a:r>
            <a:r>
              <a:rPr lang="en-US" dirty="0">
                <a:solidFill>
                  <a:schemeClr val="tx1"/>
                </a:solidFill>
              </a:rPr>
              <a:t>Ahmed Muzakkir</a:t>
            </a:r>
            <a:endParaRPr lang="en-IN"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57405" y="2754330"/>
            <a:ext cx="8246979" cy="402938"/>
          </a:xfrm>
        </p:spPr>
        <p:txBody>
          <a:bodyPr>
            <a:normAutofit fontScale="90000"/>
          </a:bodyPr>
          <a:lstStyle/>
          <a:p>
            <a:r>
              <a:rPr lang="en-GB" sz="2200" dirty="0">
                <a:ln w="0"/>
                <a:effectLst>
                  <a:outerShdw blurRad="38100" dist="19050" dir="2700000" algn="tl" rotWithShape="0">
                    <a:schemeClr val="dk1">
                      <a:alpha val="40000"/>
                    </a:schemeClr>
                  </a:outerShdw>
                </a:effectLst>
              </a:rPr>
              <a:t>Seasonal</a:t>
            </a:r>
            <a:r>
              <a:rPr lang="en-GB" sz="2200" dirty="0"/>
              <a:t>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376706"/>
            <a:ext cx="5282973" cy="369332"/>
          </a:xfrm>
          <a:prstGeom prst="rect">
            <a:avLst/>
          </a:prstGeom>
          <a:noFill/>
        </p:spPr>
        <p:txBody>
          <a:bodyPr wrap="square" rtlCol="0">
            <a:spAutoFit/>
          </a:bodyPr>
          <a:lstStyle/>
          <a:p>
            <a:r>
              <a:rPr lang="en-US" b="1" dirty="0"/>
              <a:t>AICTE STU ID:STU6a63ab74d42471784916852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0" y="1971514"/>
            <a:ext cx="7683452" cy="3344192"/>
          </a:xfrm>
        </p:spPr>
        <p:txBody>
          <a:bodyPr vert="horz" lIns="91440" tIns="45720" rIns="91440" bIns="45720" rtlCol="0" anchor="t">
            <a:normAutofit fontScale="77500" lnSpcReduction="20000"/>
          </a:bodyPr>
          <a:lstStyle/>
          <a:p>
            <a:pPr algn="just">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1167250" y="1979073"/>
            <a:ext cx="7331280" cy="3607987"/>
          </a:xfrm>
          <a:prstGeom prst="rect">
            <a:avLst/>
          </a:prstGeom>
          <a:noFill/>
        </p:spPr>
        <p:txBody>
          <a:bodyPr wrap="square">
            <a:spAutoFit/>
          </a:bodyPr>
          <a:lstStyle/>
          <a:p>
            <a:pPr algn="just">
              <a:lnSpc>
                <a:spcPts val="2700"/>
              </a:lnSpc>
            </a:pPr>
            <a:r>
              <a:rPr sz="1800" dirty="0"/>
              <a:t>This project analyzes 3,880 farm records spanning 8 Indian states, 8 major crops, and 3 growing seasons (Kharif, Rabi and Zaid) to uncover how profitability, yield, water usage, input consumption, and pest/disease risk vary across seasons. Using Python with Pandas, Matplotlib and Seaborn, the study covers seasonal profitability, resource intensity, crop-specific performance, environmental risk correlations, input-usage patterns, water efficiency, feature correlations, state-wise comparisons, and yield-gap analysis — delivering data-driven insights for farmers, agribusinesses, and policymakers.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40000"/>
              </a:lnSpc>
            </a:pPr>
            <a:r>
              <a:rPr lang="en-US" sz="2000" dirty="0"/>
              <a:t>Farmers &amp; Agronomists – choose the right crop and season for maximum yield and profit</a:t>
            </a:r>
          </a:p>
          <a:p>
            <a:pPr algn="just">
              <a:lnSpc>
                <a:spcPct val="140000"/>
              </a:lnSpc>
            </a:pPr>
            <a:r>
              <a:rPr lang="en-US" sz="2000" dirty="0"/>
              <a:t>Agricultural Policymakers &amp; Government Bodies – plan irrigation, subsidies, and resource allocation</a:t>
            </a:r>
          </a:p>
          <a:p>
            <a:pPr algn="just">
              <a:lnSpc>
                <a:spcPct val="140000"/>
              </a:lnSpc>
            </a:pPr>
            <a:r>
              <a:rPr lang="en-US" sz="2000" dirty="0"/>
              <a:t>Agribusinesses &amp; Agri-fintech Companies – assess crop and seasonal risk for insurance and lending</a:t>
            </a:r>
          </a:p>
          <a:p>
            <a:pPr algn="just">
              <a:lnSpc>
                <a:spcPct val="140000"/>
              </a:lnSpc>
            </a:pPr>
            <a:r>
              <a:rPr lang="en-US" sz="2000" dirty="0"/>
              <a:t>Researchers &amp; Agri-Tech Students – use as a reference for further data-driven farming studies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8684371" cy="2820263"/>
          </a:xfrm>
        </p:spPr>
        <p:txBody>
          <a:bodyPr/>
          <a:lstStyle/>
          <a:p>
            <a:pPr>
              <a:lnSpc>
                <a:spcPts val="2400"/>
              </a:lnSpc>
            </a:pPr>
            <a:r>
              <a:rPr lang="en-US" sz="1800" dirty="0"/>
              <a:t>Python 3</a:t>
            </a:r>
          </a:p>
          <a:p>
            <a:pPr>
              <a:lnSpc>
                <a:spcPts val="2400"/>
              </a:lnSpc>
            </a:pPr>
            <a:r>
              <a:rPr lang="en-US" sz="1800" dirty="0"/>
              <a:t>Pandas &amp; NumPy – data cleaning and aggregation</a:t>
            </a:r>
          </a:p>
          <a:p>
            <a:pPr>
              <a:lnSpc>
                <a:spcPts val="2400"/>
              </a:lnSpc>
            </a:pPr>
            <a:r>
              <a:rPr lang="en-US" sz="1800" dirty="0"/>
              <a:t>Matplotlib &amp; Seaborn – data visualization</a:t>
            </a:r>
          </a:p>
          <a:p>
            <a:pPr>
              <a:lnSpc>
                <a:spcPts val="2400"/>
              </a:lnSpc>
            </a:pPr>
            <a:r>
              <a:rPr lang="en-US" sz="1800" dirty="0"/>
              <a:t>Jupyter Notebook / Google Colab – development environment</a:t>
            </a:r>
          </a:p>
          <a:p>
            <a:pPr>
              <a:lnSpc>
                <a:spcPts val="2400"/>
              </a:lnSpc>
            </a:pPr>
            <a:r>
              <a:rPr lang="en-US" sz="1800" dirty="0"/>
              <a:t>Structured CSV dataset – 3,880 records, 28 features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ll5_img.png"/>
          <p:cNvPicPr>
            <a:picLocks noChangeAspect="1"/>
          </p:cNvPicPr>
          <p:nvPr/>
        </p:nvPicPr>
        <p:blipFill>
          <a:blip r:embed="rId3"/>
          <a:stretch>
            <a:fillRect/>
          </a:stretch>
        </p:blipFill>
        <p:spPr>
          <a:xfrm>
            <a:off x="517191" y="1201586"/>
            <a:ext cx="4603782" cy="2470066"/>
          </a:xfrm>
          <a:prstGeom prst="rect">
            <a:avLst/>
          </a:prstGeom>
        </p:spPr>
      </p:pic>
      <p:pic>
        <p:nvPicPr>
          <p:cNvPr id="25" name="Picture 24" descr="cell6_img.png"/>
          <p:cNvPicPr>
            <a:picLocks noChangeAspect="1"/>
          </p:cNvPicPr>
          <p:nvPr/>
        </p:nvPicPr>
        <p:blipFill>
          <a:blip r:embed="rId4"/>
          <a:stretch>
            <a:fillRect/>
          </a:stretch>
        </p:blipFill>
        <p:spPr>
          <a:xfrm>
            <a:off x="5317182" y="1201586"/>
            <a:ext cx="4358092" cy="2458948"/>
          </a:xfrm>
          <a:prstGeom prst="rect">
            <a:avLst/>
          </a:prstGeom>
        </p:spPr>
      </p:pic>
      <p:pic>
        <p:nvPicPr>
          <p:cNvPr id="26" name="Picture 25" descr="cell7_img.png"/>
          <p:cNvPicPr>
            <a:picLocks noChangeAspect="1"/>
          </p:cNvPicPr>
          <p:nvPr/>
        </p:nvPicPr>
        <p:blipFill>
          <a:blip r:embed="rId5"/>
          <a:stretch>
            <a:fillRect/>
          </a:stretch>
        </p:blipFill>
        <p:spPr>
          <a:xfrm>
            <a:off x="675957" y="3972797"/>
            <a:ext cx="4344717" cy="2377203"/>
          </a:xfrm>
          <a:prstGeom prst="rect">
            <a:avLst/>
          </a:prstGeom>
        </p:spPr>
      </p:pic>
      <p:pic>
        <p:nvPicPr>
          <p:cNvPr id="27" name="Picture 26" descr="cell24_img.png"/>
          <p:cNvPicPr>
            <a:picLocks noChangeAspect="1"/>
          </p:cNvPicPr>
          <p:nvPr/>
        </p:nvPicPr>
        <p:blipFill>
          <a:blip r:embed="rId6"/>
          <a:stretch>
            <a:fillRect/>
          </a:stretch>
        </p:blipFill>
        <p:spPr>
          <a:xfrm>
            <a:off x="5541470" y="3746191"/>
            <a:ext cx="4033851" cy="245988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sz="1800" dirty="0"/>
              <a:t>Resource &amp; Input Usage</a:t>
            </a:r>
            <a:endParaRPr lang="en-IN" dirty="0"/>
          </a:p>
        </p:txBody>
      </p:sp>
      <p:pic>
        <p:nvPicPr>
          <p:cNvPr id="31" name="Picture 30" descr="cell9_img.png"/>
          <p:cNvPicPr>
            <a:picLocks noChangeAspect="1"/>
          </p:cNvPicPr>
          <p:nvPr/>
        </p:nvPicPr>
        <p:blipFill>
          <a:blip r:embed="rId3"/>
          <a:stretch>
            <a:fillRect/>
          </a:stretch>
        </p:blipFill>
        <p:spPr>
          <a:xfrm>
            <a:off x="675957" y="1941449"/>
            <a:ext cx="4901891" cy="3312038"/>
          </a:xfrm>
          <a:prstGeom prst="rect">
            <a:avLst/>
          </a:prstGeom>
        </p:spPr>
      </p:pic>
      <p:pic>
        <p:nvPicPr>
          <p:cNvPr id="32" name="Picture 31" descr="cell11_img.png"/>
          <p:cNvPicPr>
            <a:picLocks noChangeAspect="1"/>
          </p:cNvPicPr>
          <p:nvPr/>
        </p:nvPicPr>
        <p:blipFill>
          <a:blip r:embed="rId4"/>
          <a:stretch>
            <a:fillRect/>
          </a:stretch>
        </p:blipFill>
        <p:spPr>
          <a:xfrm>
            <a:off x="6017474" y="1941449"/>
            <a:ext cx="5640811" cy="305435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sz="1800" dirty="0"/>
              <a:t>Crop-Specific Performance</a:t>
            </a:r>
            <a:endParaRPr lang="en-IN" dirty="0"/>
          </a:p>
        </p:txBody>
      </p:sp>
      <p:pic>
        <p:nvPicPr>
          <p:cNvPr id="31" name="Picture 30" descr="cell13_img.png"/>
          <p:cNvPicPr>
            <a:picLocks noChangeAspect="1"/>
          </p:cNvPicPr>
          <p:nvPr/>
        </p:nvPicPr>
        <p:blipFill>
          <a:blip r:embed="rId3"/>
          <a:stretch>
            <a:fillRect/>
          </a:stretch>
        </p:blipFill>
        <p:spPr>
          <a:xfrm>
            <a:off x="346965" y="2097771"/>
            <a:ext cx="5670509" cy="3856930"/>
          </a:xfrm>
          <a:prstGeom prst="rect">
            <a:avLst/>
          </a:prstGeom>
        </p:spPr>
      </p:pic>
      <p:pic>
        <p:nvPicPr>
          <p:cNvPr id="32" name="Picture 31" descr="cell26_img.png"/>
          <p:cNvPicPr>
            <a:picLocks noChangeAspect="1"/>
          </p:cNvPicPr>
          <p:nvPr/>
        </p:nvPicPr>
        <p:blipFill>
          <a:blip r:embed="rId4"/>
          <a:stretch>
            <a:fillRect/>
          </a:stretch>
        </p:blipFill>
        <p:spPr>
          <a:xfrm>
            <a:off x="6221491" y="2104846"/>
            <a:ext cx="5670509" cy="365452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sz="1800" dirty="0"/>
              <a:t>Environmental &amp; Disease Risk</a:t>
            </a:r>
            <a:endParaRPr lang="en-IN" dirty="0"/>
          </a:p>
        </p:txBody>
      </p:sp>
      <p:pic>
        <p:nvPicPr>
          <p:cNvPr id="31" name="Picture 30" descr="cell15_img.png"/>
          <p:cNvPicPr>
            <a:picLocks noChangeAspect="1"/>
          </p:cNvPicPr>
          <p:nvPr/>
        </p:nvPicPr>
        <p:blipFill>
          <a:blip r:embed="rId3"/>
          <a:stretch>
            <a:fillRect/>
          </a:stretch>
        </p:blipFill>
        <p:spPr>
          <a:xfrm>
            <a:off x="420099" y="2020000"/>
            <a:ext cx="5430310" cy="4330000"/>
          </a:xfrm>
          <a:prstGeom prst="rect">
            <a:avLst/>
          </a:prstGeom>
        </p:spPr>
      </p:pic>
      <p:pic>
        <p:nvPicPr>
          <p:cNvPr id="32" name="Picture 31" descr="cell17_img.png"/>
          <p:cNvPicPr>
            <a:picLocks noChangeAspect="1"/>
          </p:cNvPicPr>
          <p:nvPr/>
        </p:nvPicPr>
        <p:blipFill>
          <a:blip r:embed="rId4"/>
          <a:stretch>
            <a:fillRect/>
          </a:stretch>
        </p:blipFill>
        <p:spPr>
          <a:xfrm>
            <a:off x="6220509" y="2491882"/>
            <a:ext cx="5670509" cy="338623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sz="1800" dirty="0"/>
              <a:t>Correlation &amp; State Analysis</a:t>
            </a:r>
            <a:endParaRPr lang="en-IN" dirty="0"/>
          </a:p>
        </p:txBody>
      </p:sp>
      <p:pic>
        <p:nvPicPr>
          <p:cNvPr id="31" name="Picture 30" descr="cell19_img.png"/>
          <p:cNvPicPr>
            <a:picLocks noChangeAspect="1"/>
          </p:cNvPicPr>
          <p:nvPr/>
        </p:nvPicPr>
        <p:blipFill>
          <a:blip r:embed="rId3"/>
          <a:stretch>
            <a:fillRect/>
          </a:stretch>
        </p:blipFill>
        <p:spPr>
          <a:xfrm>
            <a:off x="299999" y="2065534"/>
            <a:ext cx="4275138" cy="3983317"/>
          </a:xfrm>
          <a:prstGeom prst="rect">
            <a:avLst/>
          </a:prstGeom>
        </p:spPr>
      </p:pic>
      <p:pic>
        <p:nvPicPr>
          <p:cNvPr id="32" name="Picture 31" descr="cell21_img.png"/>
          <p:cNvPicPr>
            <a:picLocks noChangeAspect="1"/>
          </p:cNvPicPr>
          <p:nvPr/>
        </p:nvPicPr>
        <p:blipFill>
          <a:blip r:embed="rId4"/>
          <a:stretch>
            <a:fillRect/>
          </a:stretch>
        </p:blipFill>
        <p:spPr>
          <a:xfrm>
            <a:off x="4830452" y="513430"/>
            <a:ext cx="4870663" cy="2419551"/>
          </a:xfrm>
          <a:prstGeom prst="rect">
            <a:avLst/>
          </a:prstGeom>
        </p:spPr>
      </p:pic>
      <p:pic>
        <p:nvPicPr>
          <p:cNvPr id="33" name="Picture 32" descr="cell22_img.png"/>
          <p:cNvPicPr>
            <a:picLocks noChangeAspect="1"/>
          </p:cNvPicPr>
          <p:nvPr/>
        </p:nvPicPr>
        <p:blipFill>
          <a:blip r:embed="rId5"/>
          <a:stretch>
            <a:fillRect/>
          </a:stretch>
        </p:blipFill>
        <p:spPr>
          <a:xfrm>
            <a:off x="4907347" y="3220052"/>
            <a:ext cx="4870663" cy="241955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22978" y="1201586"/>
            <a:ext cx="7904481" cy="3990023"/>
          </a:xfrm>
          <a:prstGeom prst="rect">
            <a:avLst/>
          </a:prstGeom>
          <a:noFill/>
        </p:spPr>
        <p:txBody>
          <a:bodyPr wrap="square">
            <a:spAutoFit/>
          </a:bodyPr>
          <a:lstStyle/>
          <a:p>
            <a:pPr>
              <a:lnSpc>
                <a:spcPts val="3000"/>
              </a:lnSpc>
            </a:pPr>
            <a:r>
              <a:rPr sz="2000" dirty="0"/>
              <a:t>•  Integrate real-time weather and market-price APIs for live seasonal forecasting</a:t>
            </a:r>
          </a:p>
          <a:p>
            <a:pPr>
              <a:lnSpc>
                <a:spcPts val="3000"/>
              </a:lnSpc>
            </a:pPr>
            <a:r>
              <a:rPr sz="2000" dirty="0"/>
              <a:t>•  Build a machine-learning model to recommend the optimal crop and season for a given farm</a:t>
            </a:r>
          </a:p>
          <a:p>
            <a:pPr>
              <a:lnSpc>
                <a:spcPts val="3000"/>
              </a:lnSpc>
            </a:pPr>
            <a:r>
              <a:rPr sz="2000" dirty="0"/>
              <a:t>•  Extend the analysis to additional states and multi-year data for long-term trend forecasting</a:t>
            </a:r>
          </a:p>
          <a:p>
            <a:pPr>
              <a:lnSpc>
                <a:spcPts val="3000"/>
              </a:lnSpc>
            </a:pPr>
            <a:r>
              <a:rPr sz="2000" dirty="0"/>
              <a:t>•  Develop an interactive dashboard (Power BI / </a:t>
            </a:r>
            <a:r>
              <a:rPr sz="2000" dirty="0" err="1"/>
              <a:t>Streamlit</a:t>
            </a:r>
            <a:r>
              <a:rPr sz="2000" dirty="0"/>
              <a:t>) for farmers and policymakers</a:t>
            </a:r>
          </a:p>
          <a:p>
            <a:pPr>
              <a:lnSpc>
                <a:spcPts val="3000"/>
              </a:lnSpc>
            </a:pPr>
            <a:r>
              <a:rPr sz="2000" dirty="0"/>
              <a:t>•  Incorporate soil-health and satellite-imagery data for deeper environmental insight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7" y="1440320"/>
            <a:ext cx="5831964" cy="707886"/>
          </a:xfrm>
          <a:prstGeom prst="rect">
            <a:avLst/>
          </a:prstGeom>
          <a:noFill/>
        </p:spPr>
        <p:txBody>
          <a:bodyPr wrap="square">
            <a:spAutoFit/>
          </a:bodyPr>
          <a:lstStyle/>
          <a:p>
            <a:r>
              <a:rPr lang="en-US" sz="2000" dirty="0">
                <a:hlinkClick r:id="rId3"/>
              </a:rPr>
              <a:t>https://github.com/</a:t>
            </a:r>
            <a:r>
              <a:rPr lang="en-IN" sz="2000" u="sng" dirty="0">
                <a:solidFill>
                  <a:schemeClr val="accent1"/>
                </a:solidFill>
              </a:rPr>
              <a:t>Muzakkir-278617</a:t>
            </a:r>
            <a:r>
              <a:rPr lang="en-US" sz="2000" dirty="0">
                <a:hlinkClick r:id="rId4"/>
              </a:rPr>
              <a:t>/</a:t>
            </a:r>
            <a:r>
              <a:rPr lang="en-US" sz="2000" u="sng" dirty="0">
                <a:solidFill>
                  <a:schemeClr val="accent1"/>
                </a:solidFill>
              </a:rPr>
              <a:t>Seasonal-Agriculture-Performance-Analysis</a:t>
            </a:r>
          </a:p>
        </p:txBody>
      </p:sp>
      <p:sp>
        <p:nvSpPr>
          <p:cNvPr id="2" name="TextBox 1">
            <a:extLst>
              <a:ext uri="{FF2B5EF4-FFF2-40B4-BE49-F238E27FC236}">
                <a16:creationId xmlns:a16="http://schemas.microsoft.com/office/drawing/2014/main" id="{C750F8ED-2A04-2A53-93B4-8C1D6805DA6C}"/>
              </a:ext>
            </a:extLst>
          </p:cNvPr>
          <p:cNvSpPr txBox="1"/>
          <p:nvPr/>
        </p:nvSpPr>
        <p:spPr>
          <a:xfrm>
            <a:off x="4018547" y="3168316"/>
            <a:ext cx="4483769"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767A21E-F2E5-6E9F-D610-9E69D09128A1}"/>
              </a:ext>
            </a:extLst>
          </p:cNvPr>
          <p:cNvPicPr>
            <a:picLocks noChangeAspect="1"/>
          </p:cNvPicPr>
          <p:nvPr/>
        </p:nvPicPr>
        <p:blipFill>
          <a:blip r:embed="rId3"/>
          <a:stretch>
            <a:fillRect/>
          </a:stretch>
        </p:blipFill>
        <p:spPr>
          <a:xfrm>
            <a:off x="675957" y="1608410"/>
            <a:ext cx="6746075" cy="474634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70673" y="75738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991602" y="1941075"/>
            <a:ext cx="7557840" cy="1108635"/>
          </a:xfrm>
        </p:spPr>
        <p:txBody>
          <a:bodyPr>
            <a:normAutofit/>
          </a:bodyPr>
          <a:lstStyle/>
          <a:p>
            <a:r>
              <a:rPr lang="en-US" dirty="0">
                <a:solidFill>
                  <a:schemeClr val="accent2">
                    <a:lumMod val="75000"/>
                  </a:schemeClr>
                </a:solidFill>
              </a:rPr>
              <a:t>I'm happy to answer any questions you have about the project.</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1459</TotalTime>
  <Words>431</Words>
  <Application>Microsoft Office PowerPoint</Application>
  <PresentationFormat>Widescreen</PresentationFormat>
  <Paragraphs>41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mohammmed ahmed muzakkir</cp:lastModifiedBy>
  <cp:revision>107</cp:revision>
  <dcterms:created xsi:type="dcterms:W3CDTF">2021-07-11T13:13:15Z</dcterms:created>
  <dcterms:modified xsi:type="dcterms:W3CDTF">2026-09-09T09:58:51Z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